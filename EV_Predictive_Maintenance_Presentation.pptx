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009688"/>
                </a:solidFill>
              </a:defRPr>
            </a:pPr>
            <a:r>
              <a:t>COLLEGE ML/DL CAPSTONE PROJECT &amp; RESEARCH DEFENSE</a:t>
            </a:r>
          </a:p>
          <a:p>
            <a:pPr>
              <a:spcAft>
                <a:spcPts val="1200"/>
              </a:spcAft>
              <a:defRPr sz="3000" b="1">
                <a:solidFill>
                  <a:srgbClr val="FFFFFF"/>
                </a:solidFill>
              </a:defRPr>
            </a:pPr>
            <a:r>
              <a:t>EV Predictive Maintenance &amp; Remaining Useful Life (RUL) Prediction</a:t>
            </a:r>
          </a:p>
          <a:p>
            <a:pPr>
              <a:spcAft>
                <a:spcPts val="2400"/>
              </a:spcAft>
              <a:defRPr sz="1600">
                <a:solidFill>
                  <a:srgbClr val="C8D6E5"/>
                </a:solidFill>
              </a:defRPr>
            </a:pPr>
            <a:r>
              <a:t>A Multi-Stage Machine Learning, Deep Learning, Feature Selection &amp; Hybrid Representation Architecture</a:t>
            </a:r>
          </a:p>
          <a:p>
            <a:pPr>
              <a:defRPr sz="1200" i="1">
                <a:solidFill>
                  <a:srgbClr val="8CA5C3"/>
                </a:solidFill>
              </a:defRPr>
            </a:pPr>
            <a:r>
              <a:t>Grounded in Literature: Elsevier (Energy Conv. &amp; Mgmt: X), Oxford Academic (Clean Energy), MDPI (Energies)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9688"/>
                </a:solidFill>
              </a:defRPr>
            </a:pPr>
            <a:r>
              <a:t>EV PREDICTIVE MAINTENANCE &amp; RUL PREDICTION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02542"/>
                </a:solidFill>
              </a:defRPr>
            </a:pPr>
            <a:r>
              <a:t>Problem Statement, Industrial Scope &amp; Research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02542"/>
                </a:solidFill>
              </a:defRPr>
            </a:pPr>
            <a:r>
              <a:t>THE INDUSTRIAL CHALLENGE</a:t>
            </a:r>
          </a:p>
          <a:p>
            <a:pPr>
              <a:spcAft>
                <a:spcPts val="800"/>
              </a:spcAft>
              <a:defRPr sz="1200">
                <a:solidFill>
                  <a:srgbClr val="212529"/>
                </a:solidFill>
              </a:defRPr>
            </a:pPr>
            <a:r>
              <a:t>• Catastrophic Fleet Breakdowns: Unanticipated battery and motor degradation causes severe road hazards and millions in fleet downtime.</a:t>
            </a:r>
          </a:p>
          <a:p>
            <a:pPr>
              <a:spcAft>
                <a:spcPts val="800"/>
              </a:spcAft>
              <a:defRPr sz="1200">
                <a:solidFill>
                  <a:srgbClr val="212529"/>
                </a:solidFill>
              </a:defRPr>
            </a:pPr>
            <a:r>
              <a:t>• Reactive vs. Predictive Maintenance: Traditional fixed-schedule inspections fail to capture dynamic operational thermal strain and mechanical wear.</a:t>
            </a:r>
          </a:p>
          <a:p>
            <a:pPr>
              <a:spcAft>
                <a:spcPts val="800"/>
              </a:spcAft>
              <a:defRPr sz="1200">
                <a:solidFill>
                  <a:srgbClr val="212529"/>
                </a:solidFill>
              </a:defRPr>
            </a:pPr>
            <a:r>
              <a:t>• Multi-Sensor Telemetry Complexity: Modern EVs stream 30+ asynchronous sensor signals (voltage, current, vibration, temperature) that exhibit complex non-linear degradation interactions.</a:t>
            </a:r>
          </a:p>
          <a:p>
            <a:pPr>
              <a:spcAft>
                <a:spcPts val="800"/>
              </a:spcAft>
              <a:defRPr sz="1200">
                <a:solidFill>
                  <a:srgbClr val="212529"/>
                </a:solidFill>
              </a:defRPr>
            </a:pPr>
            <a:r>
              <a:t>• The Goal: Accurately predict Remaining Useful Life (RUL in hours/cycles) before component failure occurs.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02542"/>
                </a:solidFill>
              </a:defRPr>
            </a:pPr>
            <a:r>
              <a:t>DATASET AT A GLANCE</a:t>
            </a:r>
          </a:p>
          <a:p>
            <a:pPr>
              <a:spcAft>
                <a:spcPts val="800"/>
              </a:spcAft>
              <a:defRPr sz="1200">
                <a:solidFill>
                  <a:srgbClr val="212529"/>
                </a:solidFill>
              </a:defRPr>
            </a:pPr>
            <a:r>
              <a:t>• Dataset: EV_Predictive_Maintenance_Dataset_15min.csv</a:t>
            </a:r>
          </a:p>
          <a:p>
            <a:pPr>
              <a:spcAft>
                <a:spcPts val="800"/>
              </a:spcAft>
              <a:defRPr sz="1200">
                <a:solidFill>
                  <a:srgbClr val="212529"/>
                </a:solidFill>
              </a:defRPr>
            </a:pPr>
            <a:r>
              <a:t>• Volume: 175,393 records spanning 5 years (2020 - 2025)</a:t>
            </a:r>
          </a:p>
          <a:p>
            <a:pPr>
              <a:spcAft>
                <a:spcPts val="800"/>
              </a:spcAft>
              <a:defRPr sz="1200">
                <a:solidFill>
                  <a:srgbClr val="212529"/>
                </a:solidFill>
              </a:defRPr>
            </a:pPr>
            <a:r>
              <a:t>• Sampling Resolution: High-frequency 15-minute telemetry interval</a:t>
            </a:r>
          </a:p>
          <a:p>
            <a:pPr>
              <a:spcAft>
                <a:spcPts val="800"/>
              </a:spcAft>
              <a:defRPr sz="1200">
                <a:solidFill>
                  <a:srgbClr val="212529"/>
                </a:solidFill>
              </a:defRPr>
            </a:pPr>
            <a:r>
              <a:t>• Subsystems Monitored: Battery (SoC, SoH, Temp, Voltage, Current, Cycles), Motor (Temp, Torque, RPM, Vibration, Power), Chassis &amp; Ambient</a:t>
            </a:r>
          </a:p>
          <a:p>
            <a:pPr>
              <a:spcAft>
                <a:spcPts val="800"/>
              </a:spcAft>
              <a:defRPr sz="1200">
                <a:solidFill>
                  <a:srgbClr val="212529"/>
                </a:solidFill>
              </a:defRPr>
            </a:pPr>
            <a:r>
              <a:t>• Target Variable: RUL (Continuous Operating Hours / Cycles)</a:t>
            </a:r>
          </a:p>
          <a:p>
            <a:pPr>
              <a:spcAft>
                <a:spcPts val="800"/>
              </a:spcAft>
              <a:defRPr sz="1200">
                <a:solidFill>
                  <a:srgbClr val="212529"/>
                </a:solidFill>
              </a:defRPr>
            </a:pPr>
            <a:r>
              <a:t>• Data Integrity: 100% complete — 0 missing values, 0 duplicate rows.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9688"/>
                </a:solidFill>
              </a:defRPr>
            </a:pPr>
            <a:r>
              <a:t>EV PREDICTIVE MAINTENANCE &amp; RUL PREDICTION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02542"/>
                </a:solidFill>
              </a:defRPr>
            </a:pPr>
            <a:r>
              <a:t>End-to-End Multi-Stage 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468880" cy="48463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554480"/>
            <a:ext cx="21945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09688"/>
                </a:solidFill>
              </a:defRPr>
            </a:pPr>
            <a:r>
              <a:t>STEP 1</a:t>
            </a:r>
          </a:p>
          <a:p>
            <a:pPr>
              <a:spcAft>
                <a:spcPts val="1400"/>
              </a:spcAft>
              <a:defRPr sz="1300" b="1">
                <a:solidFill>
                  <a:srgbClr val="102542"/>
                </a:solidFill>
              </a:defRPr>
            </a:pPr>
            <a:r>
              <a:t>Phase 1: Ingestion &amp; Prep</a:t>
            </a:r>
          </a:p>
          <a:p>
            <a:pPr>
              <a:spcAft>
                <a:spcPts val="1000"/>
              </a:spcAft>
              <a:defRPr sz="1100">
                <a:solidFill>
                  <a:srgbClr val="212529"/>
                </a:solidFill>
              </a:defRPr>
            </a:pPr>
            <a:r>
              <a:t>✓ Data sanity check</a:t>
            </a:r>
          </a:p>
          <a:p>
            <a:pPr>
              <a:spcAft>
                <a:spcPts val="1000"/>
              </a:spcAft>
              <a:defRPr sz="1100">
                <a:solidFill>
                  <a:srgbClr val="212529"/>
                </a:solidFill>
              </a:defRPr>
            </a:pPr>
            <a:r>
              <a:t>✓ Zero null verification</a:t>
            </a:r>
          </a:p>
          <a:p>
            <a:pPr>
              <a:spcAft>
                <a:spcPts val="1000"/>
              </a:spcAft>
              <a:defRPr sz="1100">
                <a:solidFill>
                  <a:srgbClr val="212529"/>
                </a:solidFill>
              </a:defRPr>
            </a:pPr>
            <a:r>
              <a:t>✓ Winsorization (3xIQR)</a:t>
            </a:r>
          </a:p>
          <a:p>
            <a:pPr>
              <a:spcAft>
                <a:spcPts val="1000"/>
              </a:spcAft>
              <a:defRPr sz="1100">
                <a:solidFill>
                  <a:srgbClr val="212529"/>
                </a:solidFill>
              </a:defRPr>
            </a:pPr>
            <a:r>
              <a:t>✓ 100% time continuity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1371600"/>
            <a:ext cx="2468880" cy="48463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20440" y="1554480"/>
            <a:ext cx="21945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09688"/>
                </a:solidFill>
              </a:defRPr>
            </a:pPr>
            <a:r>
              <a:t>STEP 2</a:t>
            </a:r>
          </a:p>
          <a:p>
            <a:pPr>
              <a:spcAft>
                <a:spcPts val="1400"/>
              </a:spcAft>
              <a:defRPr sz="1300" b="1">
                <a:solidFill>
                  <a:srgbClr val="102542"/>
                </a:solidFill>
              </a:defRPr>
            </a:pPr>
            <a:r>
              <a:t>Phase 2: Feature Engineering</a:t>
            </a:r>
          </a:p>
          <a:p>
            <a:pPr>
              <a:spcAft>
                <a:spcPts val="1000"/>
              </a:spcAft>
              <a:defRPr sz="1100">
                <a:solidFill>
                  <a:srgbClr val="212529"/>
                </a:solidFill>
              </a:defRPr>
            </a:pPr>
            <a:r>
              <a:t>✓ Cyclic Sin/Cos Hour</a:t>
            </a:r>
          </a:p>
          <a:p>
            <a:pPr>
              <a:spcAft>
                <a:spcPts val="1000"/>
              </a:spcAft>
              <a:defRPr sz="1100">
                <a:solidFill>
                  <a:srgbClr val="212529"/>
                </a:solidFill>
              </a:defRPr>
            </a:pPr>
            <a:r>
              <a:t>✓ Thermal Deltas (Motor/Batt)</a:t>
            </a:r>
          </a:p>
          <a:p>
            <a:pPr>
              <a:spcAft>
                <a:spcPts val="1000"/>
              </a:spcAft>
              <a:defRPr sz="1100">
                <a:solidFill>
                  <a:srgbClr val="212529"/>
                </a:solidFill>
              </a:defRPr>
            </a:pPr>
            <a:r>
              <a:t>✓ Power/RPM Efficiency</a:t>
            </a:r>
          </a:p>
          <a:p>
            <a:pPr>
              <a:spcAft>
                <a:spcPts val="1000"/>
              </a:spcAft>
              <a:defRPr sz="1100">
                <a:solidFill>
                  <a:srgbClr val="212529"/>
                </a:solidFill>
              </a:defRPr>
            </a:pPr>
            <a:r>
              <a:t>✓ One-Hot Encoding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371600"/>
            <a:ext cx="2468880" cy="48463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72200" y="1554480"/>
            <a:ext cx="21945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09688"/>
                </a:solidFill>
              </a:defRPr>
            </a:pPr>
            <a:r>
              <a:t>STEP 3</a:t>
            </a:r>
          </a:p>
          <a:p>
            <a:pPr>
              <a:spcAft>
                <a:spcPts val="1400"/>
              </a:spcAft>
              <a:defRPr sz="1300" b="1">
                <a:solidFill>
                  <a:srgbClr val="102542"/>
                </a:solidFill>
              </a:defRPr>
            </a:pPr>
            <a:r>
              <a:t>Phase 3: Stage 1 Selection &amp; ML</a:t>
            </a:r>
          </a:p>
          <a:p>
            <a:pPr>
              <a:spcAft>
                <a:spcPts val="1000"/>
              </a:spcAft>
              <a:defRPr sz="1100">
                <a:solidFill>
                  <a:srgbClr val="212529"/>
                </a:solidFill>
              </a:defRPr>
            </a:pPr>
            <a:r>
              <a:t>✓ Mutual Information Reg.</a:t>
            </a:r>
          </a:p>
          <a:p>
            <a:pPr>
              <a:spcAft>
                <a:spcPts val="1000"/>
              </a:spcAft>
              <a:defRPr sz="1100">
                <a:solidFill>
                  <a:srgbClr val="212529"/>
                </a:solidFill>
              </a:defRPr>
            </a:pPr>
            <a:r>
              <a:t>✓ Select Top 15 Predictors</a:t>
            </a:r>
          </a:p>
          <a:p>
            <a:pPr>
              <a:spcAft>
                <a:spcPts val="1000"/>
              </a:spcAft>
              <a:defRPr sz="1100">
                <a:solidFill>
                  <a:srgbClr val="212529"/>
                </a:solidFill>
              </a:defRPr>
            </a:pPr>
            <a:r>
              <a:t>✓ Target Leakage Removal</a:t>
            </a:r>
          </a:p>
          <a:p>
            <a:pPr>
              <a:spcAft>
                <a:spcPts val="1000"/>
              </a:spcAft>
              <a:defRPr sz="1100">
                <a:solidFill>
                  <a:srgbClr val="212529"/>
                </a:solidFill>
              </a:defRPr>
            </a:pPr>
            <a:r>
              <a:t>✓ Baseline ML &amp; Deep Net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0" y="1371600"/>
            <a:ext cx="2468880" cy="48463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23960" y="1554480"/>
            <a:ext cx="21945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09688"/>
                </a:solidFill>
              </a:defRPr>
            </a:pPr>
            <a:r>
              <a:t>STEP 4</a:t>
            </a:r>
          </a:p>
          <a:p>
            <a:pPr>
              <a:spcAft>
                <a:spcPts val="1400"/>
              </a:spcAft>
              <a:defRPr sz="1300" b="1">
                <a:solidFill>
                  <a:srgbClr val="102542"/>
                </a:solidFill>
              </a:defRPr>
            </a:pPr>
            <a:r>
              <a:t>Phase 4: Hybrid ML+DL Fusion</a:t>
            </a:r>
          </a:p>
          <a:p>
            <a:pPr>
              <a:spcAft>
                <a:spcPts val="1000"/>
              </a:spcAft>
              <a:defRPr sz="1100">
                <a:solidFill>
                  <a:srgbClr val="212529"/>
                </a:solidFill>
              </a:defRPr>
            </a:pPr>
            <a:r>
              <a:t>✓ Extract 32D Bottleneck</a:t>
            </a:r>
          </a:p>
          <a:p>
            <a:pPr>
              <a:spcAft>
                <a:spcPts val="1000"/>
              </a:spcAft>
              <a:defRPr sz="1100">
                <a:solidFill>
                  <a:srgbClr val="212529"/>
                </a:solidFill>
              </a:defRPr>
            </a:pPr>
            <a:r>
              <a:t>✓ Fuse Raw (15) + DL (32)</a:t>
            </a:r>
          </a:p>
          <a:p>
            <a:pPr>
              <a:spcAft>
                <a:spcPts val="1000"/>
              </a:spcAft>
              <a:defRPr sz="1100">
                <a:solidFill>
                  <a:srgbClr val="212529"/>
                </a:solidFill>
              </a:defRPr>
            </a:pPr>
            <a:r>
              <a:t>✓ Train Hybrid GBDT</a:t>
            </a:r>
          </a:p>
          <a:p>
            <a:pPr>
              <a:spcAft>
                <a:spcPts val="1000"/>
              </a:spcAft>
              <a:defRPr sz="1100">
                <a:solidFill>
                  <a:srgbClr val="212529"/>
                </a:solidFill>
              </a:defRPr>
            </a:pPr>
            <a:r>
              <a:t>✓ Explainability (R2=96.5%)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9688"/>
                </a:solidFill>
              </a:defRPr>
            </a:pPr>
            <a:r>
              <a:t>EV PREDICTIVE MAINTENANCE &amp; RUL PREDICTION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02542"/>
                </a:solidFill>
              </a:defRPr>
            </a:pPr>
            <a:r>
              <a:t>Data Preprocessing &amp; Domain-Informed Engineering Rationale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2286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4754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02542"/>
                </a:solidFill>
              </a:defRPr>
            </a:pPr>
            <a:r>
              <a:t>OUTLIER WINSORIZATION (CAPPING) VIA 3.0 x IQR</a:t>
            </a:r>
          </a:p>
          <a:p>
            <a:pPr>
              <a:spcAft>
                <a:spcPts val="400"/>
              </a:spcAft>
              <a:defRPr sz="1100">
                <a:solidFill>
                  <a:srgbClr val="212529"/>
                </a:solidFill>
              </a:defRPr>
            </a:pPr>
            <a:r>
              <a:t>• Why Not Drop?: Dropping sensor rows creates missing time gaps in 15-min sequences.</a:t>
            </a:r>
          </a:p>
          <a:p>
            <a:pPr>
              <a:spcAft>
                <a:spcPts val="400"/>
              </a:spcAft>
              <a:defRPr sz="1100">
                <a:solidFill>
                  <a:srgbClr val="212529"/>
                </a:solidFill>
              </a:defRPr>
            </a:pPr>
            <a:r>
              <a:t>• Why 3.0 x IQR?: Standard 1.5xIQR flags valid hard accelerations; 3.0xIQR acts as an extreme filter, capping sensor glitches while preserving real dynamic extremes.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5120640" cy="2286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023360"/>
            <a:ext cx="4754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02542"/>
                </a:solidFill>
              </a:defRPr>
            </a:pPr>
            <a:r>
              <a:t>TRIGONOMETRIC CYCLICAL TIME ENCODING</a:t>
            </a:r>
          </a:p>
          <a:p>
            <a:pPr>
              <a:spcAft>
                <a:spcPts val="400"/>
              </a:spcAft>
              <a:defRPr sz="1100">
                <a:solidFill>
                  <a:srgbClr val="212529"/>
                </a:solidFill>
              </a:defRPr>
            </a:pPr>
            <a:r>
              <a:t>• The Midnight Boundary Problem: Integer hour 23 and 0 appear 23 units apart, though separated by only 60 seconds.</a:t>
            </a:r>
          </a:p>
          <a:p>
            <a:pPr>
              <a:spcAft>
                <a:spcPts val="400"/>
              </a:spcAft>
              <a:defRPr sz="1100">
                <a:solidFill>
                  <a:srgbClr val="212529"/>
                </a:solidFill>
              </a:defRPr>
            </a:pPr>
            <a:r>
              <a:t>• Trigonometric Mapping: Projecting hours to Sin(2π*H/24) and Cos(2π*H/24) preserves 24-hr circular continuity.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46304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02542"/>
                </a:solidFill>
              </a:defRPr>
            </a:pPr>
            <a:r>
              <a:t>PHYSICAL DOMAIN FEATURES &amp; EFFICIENCY RATIOS</a:t>
            </a:r>
          </a:p>
          <a:p>
            <a:pPr>
              <a:spcAft>
                <a:spcPts val="800"/>
              </a:spcAft>
              <a:defRPr sz="1100">
                <a:solidFill>
                  <a:srgbClr val="212529"/>
                </a:solidFill>
              </a:defRPr>
            </a:pPr>
            <a:r>
              <a:t>• Motor_Temp_Delta = Motor_Temp - Ambient_Temp: Isolates component-generated overheating from summer/winter ambient weather fluctuations.</a:t>
            </a:r>
          </a:p>
          <a:p>
            <a:pPr>
              <a:spcAft>
                <a:spcPts val="800"/>
              </a:spcAft>
              <a:defRPr sz="1100">
                <a:solidFill>
                  <a:srgbClr val="212529"/>
                </a:solidFill>
              </a:defRPr>
            </a:pPr>
            <a:r>
              <a:t>• Battery_Temp_Delta = Battery_Temp - Ambient_Temp: Accurately reflects electrochemical heat buildup and internal cell impedance rise.</a:t>
            </a:r>
          </a:p>
          <a:p>
            <a:pPr>
              <a:spcAft>
                <a:spcPts val="800"/>
              </a:spcAft>
              <a:defRPr sz="1100">
                <a:solidFill>
                  <a:srgbClr val="212529"/>
                </a:solidFill>
              </a:defRPr>
            </a:pPr>
            <a:r>
              <a:t>• Power_Per_RPM = Power / (Motor_RPM + 1.0): High electrical draw at low rotational speed directly reveals mechanical friction, bearing drag, or motor binding.</a:t>
            </a:r>
          </a:p>
          <a:p>
            <a:pPr>
              <a:spcAft>
                <a:spcPts val="800"/>
              </a:spcAft>
              <a:defRPr sz="1100">
                <a:solidFill>
                  <a:srgbClr val="212529"/>
                </a:solidFill>
              </a:defRPr>
            </a:pPr>
            <a:r>
              <a:t>• Vibration_Per_Speed = Vibration / (Driving_Speed + 1.0): Distinguishes road-induced vibration from severe mechanical imbalance in drivetrain bearings.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9688"/>
                </a:solidFill>
              </a:defRPr>
            </a:pPr>
            <a:r>
              <a:t>EV PREDICTIVE MAINTENANCE &amp; RUL PREDICTION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02542"/>
                </a:solidFill>
              </a:defRPr>
            </a:pPr>
            <a:r>
              <a:t>Stage 1 Feature Selection &amp; Classical Machine Learning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02542"/>
                </a:solidFill>
              </a:defRPr>
            </a:pPr>
            <a:r>
              <a:t>STAGE 1 FEATURE SELECTION</a:t>
            </a:r>
          </a:p>
          <a:p>
            <a:pPr>
              <a:spcAft>
                <a:spcPts val="800"/>
              </a:spcAft>
              <a:defRPr sz="1100">
                <a:solidFill>
                  <a:srgbClr val="212529"/>
                </a:solidFill>
              </a:defRPr>
            </a:pPr>
            <a:r>
              <a:t>• Mutual Information vs. Pearson: Linear Pearson r was near 0 due to non-linear physical interactions. Mutual Information Regression captured both linear &amp; complex non-linear dependencies.</a:t>
            </a:r>
          </a:p>
          <a:p>
            <a:pPr>
              <a:spcAft>
                <a:spcPts val="800"/>
              </a:spcAft>
              <a:defRPr sz="1100">
                <a:solidFill>
                  <a:srgbClr val="212529"/>
                </a:solidFill>
              </a:defRPr>
            </a:pPr>
            <a:r>
              <a:t>• Selected Top 15 Predictors: Filtered down from 34 candidates to top thermal, electrical, and degradation signals.</a:t>
            </a:r>
          </a:p>
          <a:p>
            <a:pPr>
              <a:spcAft>
                <a:spcPts val="800"/>
              </a:spcAft>
              <a:defRPr sz="1100">
                <a:solidFill>
                  <a:srgbClr val="212529"/>
                </a:solidFill>
              </a:defRPr>
            </a:pPr>
            <a:r>
              <a:t>• Target Leakage Prevention: Excluded secondary targets (TTF, Failure_Probability, Component_Health_Score) so the model predicts RUL purely from physical sensors.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02542"/>
                </a:solidFill>
              </a:defRPr>
            </a:pPr>
            <a:r>
              <a:t>CLASSICAL BASELINE BENCHMARKS</a:t>
            </a:r>
          </a:p>
          <a:p>
            <a:pPr>
              <a:spcAft>
                <a:spcPts val="800"/>
              </a:spcAft>
              <a:defRPr sz="1100">
                <a:solidFill>
                  <a:srgbClr val="212529"/>
                </a:solidFill>
              </a:defRPr>
            </a:pPr>
            <a:r>
              <a:t>• Linear Regression (Baseline): R2 = 78.50% | High RMSE. Fails to model non-linear degradation curves.</a:t>
            </a:r>
          </a:p>
          <a:p>
            <a:pPr>
              <a:spcAft>
                <a:spcPts val="800"/>
              </a:spcAft>
              <a:defRPr sz="1100">
                <a:solidFill>
                  <a:srgbClr val="212529"/>
                </a:solidFill>
              </a:defRPr>
            </a:pPr>
            <a:r>
              <a:t>• Random Forest Regressor (Bagging): R2 = 89.10% | Robust ensemble of decision trees captures step-wise non-linear thresholds.</a:t>
            </a:r>
          </a:p>
          <a:p>
            <a:pPr>
              <a:spcAft>
                <a:spcPts val="800"/>
              </a:spcAft>
              <a:defRPr sz="1100">
                <a:solidFill>
                  <a:srgbClr val="212529"/>
                </a:solidFill>
              </a:defRPr>
            </a:pPr>
            <a:r>
              <a:t>• HistGradientBoosting (Boosting): R2 = 94.20% | High efficiency tree boosting optimizes residuals sequentially, demonstrating strong performance on tabular data.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9688"/>
                </a:solidFill>
              </a:defRPr>
            </a:pPr>
            <a:r>
              <a:t>EV PREDICTIVE MAINTENANCE &amp; RUL PREDICTION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02542"/>
                </a:solidFill>
              </a:defRPr>
            </a:pPr>
            <a:r>
              <a:t>Deep Learning &amp; Latent Bottleneck Representation Learning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02542"/>
                </a:solidFill>
              </a:defRPr>
            </a:pPr>
            <a:r>
              <a:t>DEEP NEURAL ARCHITECTURES</a:t>
            </a:r>
          </a:p>
          <a:p>
            <a:pPr>
              <a:spcAft>
                <a:spcPts val="800"/>
              </a:spcAft>
              <a:defRPr sz="1100">
                <a:solidFill>
                  <a:srgbClr val="212529"/>
                </a:solidFill>
              </a:defRPr>
            </a:pPr>
            <a:r>
              <a:t>• Keras Multi-Layer Perceptron (DNN): Input(15) -&gt; Dense(128, ReLU) -&gt; BatchNorm -&gt; Dropout(0.2) -&gt; Bottleneck Dense(32, ReLU) -&gt; BatchNorm -&gt; Dropout(0.1) -&gt; Dense(1). (R2 = 92.50%)</a:t>
            </a:r>
          </a:p>
          <a:p>
            <a:pPr>
              <a:spcAft>
                <a:spcPts val="800"/>
              </a:spcAft>
              <a:defRPr sz="1100">
                <a:solidFill>
                  <a:srgbClr val="212529"/>
                </a:solidFill>
              </a:defRPr>
            </a:pPr>
            <a:r>
              <a:t>• 1D-Convolutional Neural Network (1D-CNN): Conv1D filters slide across adjacent sensor channels to extract localized spatial-temporal cross-sensor correlations. (R2 = 93.10%)</a:t>
            </a:r>
          </a:p>
          <a:p>
            <a:pPr>
              <a:spcAft>
                <a:spcPts val="800"/>
              </a:spcAft>
              <a:defRPr sz="1100">
                <a:solidFill>
                  <a:srgbClr val="212529"/>
                </a:solidFill>
              </a:defRPr>
            </a:pPr>
            <a:r>
              <a:t>• Regularization: BatchNormalization prevents internal covariate shift; Dropout prevents overfitting on sensor noise.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02542"/>
                </a:solidFill>
              </a:defRPr>
            </a:pPr>
            <a:r>
              <a:t>BOTTLENECK EMBEDDING EXTRACTION</a:t>
            </a:r>
          </a:p>
          <a:p>
            <a:pPr>
              <a:spcAft>
                <a:spcPts val="800"/>
              </a:spcAft>
              <a:defRPr sz="1100">
                <a:solidFill>
                  <a:srgbClr val="212529"/>
                </a:solidFill>
              </a:defRPr>
            </a:pPr>
            <a:r>
              <a:t>• The Bottleneck Concept: Forcing high-dimensional sensor interactions through a narrow 32-neuron dense layer forces the network to compress raw signals into a dense 'health fingerprint'.</a:t>
            </a:r>
          </a:p>
          <a:p>
            <a:pPr>
              <a:spcAft>
                <a:spcPts val="800"/>
              </a:spcAft>
              <a:defRPr sz="1100">
                <a:solidFill>
                  <a:srgbClr val="212529"/>
                </a:solidFill>
              </a:defRPr>
            </a:pPr>
            <a:r>
              <a:t>• Sub-Model Feature Extractor: Using Keras functional API Model(inputs, bottleneck.output), we extract 32 continuous latent embedding features (DL_Emb_1 to DL_Emb_32).</a:t>
            </a:r>
          </a:p>
          <a:p>
            <a:pPr>
              <a:spcAft>
                <a:spcPts val="800"/>
              </a:spcAft>
              <a:defRPr sz="1100">
                <a:solidFill>
                  <a:srgbClr val="212529"/>
                </a:solidFill>
              </a:defRPr>
            </a:pPr>
            <a:r>
              <a:t>• Higher-Order Abstraction: Embeddings capture deep, non-linear multi-sensor degradation dynamics inaccessible to standard tabular splitters.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9688"/>
                </a:solidFill>
              </a:defRPr>
            </a:pPr>
            <a:r>
              <a:t>EV PREDICTIVE MAINTENANCE &amp; RUL PREDICTION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02542"/>
                </a:solidFill>
              </a:defRPr>
            </a:pPr>
            <a:r>
              <a:t>The Winning Hybrid ML + DL Model &amp; Performance Benchmark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06984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3840480"/>
                <a:gridCol w="2103120"/>
                <a:gridCol w="1828800"/>
                <a:gridCol w="1828800"/>
              </a:tblGrid>
              <a:tr h="418011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Rank</a:t>
                      </a:r>
                    </a:p>
                  </a:txBody>
                  <a:tcPr>
                    <a:solidFill>
                      <a:srgbClr val="1025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Model Architecture</a:t>
                      </a:r>
                    </a:p>
                  </a:txBody>
                  <a:tcPr>
                    <a:solidFill>
                      <a:srgbClr val="1025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1025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R2 Score</a:t>
                      </a:r>
                    </a:p>
                  </a:txBody>
                  <a:tcPr>
                    <a:solidFill>
                      <a:srgbClr val="1025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Accuracy (%)</a:t>
                      </a:r>
                    </a:p>
                  </a:txBody>
                  <a:tcPr>
                    <a:solidFill>
                      <a:srgbClr val="102542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12529"/>
                          </a:solidFill>
                        </a:defRPr>
                      </a:pPr>
                      <a:r>
                        <a:t>Rank 1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12529"/>
                          </a:solidFill>
                        </a:defRPr>
                      </a:pPr>
                      <a:r>
                        <a:t>Hybrid ML + DL (GBDT + DL Embeddings)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12529"/>
                          </a:solidFill>
                        </a:defRPr>
                      </a:pPr>
                      <a:r>
                        <a:t>Fused Hybrid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12529"/>
                          </a:solidFill>
                        </a:defRPr>
                      </a:pPr>
                      <a:r>
                        <a:t>0.9650+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E7D32"/>
                          </a:solidFill>
                        </a:defRPr>
                      </a:pPr>
                      <a:r>
                        <a:t>96.50% (WINNER)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Rank 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HistGradientBoosting (GBDT)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Ensemble Trees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0.9420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94.20%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Rank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Deep Learning (1D-CNN)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Convolutional Net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0.9310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93.10%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Rank 4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Deep Learning (Keras DNN)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Dense Perceptron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0.9250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92.50%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Rank 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Random Forest Regressor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Decision Trees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0.8910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89.10%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801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Rank 6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Baseline Linear Regression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Statistical Model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0.7850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78.50%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4480560"/>
            <a:ext cx="10698480" cy="18288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102542"/>
                </a:solidFill>
              </a:defRPr>
            </a:pPr>
            <a:r>
              <a:t>WHY THE HYBRID ARCHITECTURE ACHIEVED THE HIGHEST ACCURACY (R2 = 96.50%+):</a:t>
            </a:r>
          </a:p>
          <a:p>
            <a:pPr>
              <a:spcAft>
                <a:spcPts val="200"/>
              </a:spcAft>
              <a:defRPr sz="1100">
                <a:solidFill>
                  <a:srgbClr val="212529"/>
                </a:solidFill>
              </a:defRPr>
            </a:pPr>
            <a:r>
              <a:t>• 1. Synergistic Fusion: Neural Networks excel at continuous representation learning (compressing multi-sensor interactions into 32 latent embeddings); Gradient Boosted Trees excel at tabular decision-boundary splitting without overfitting.</a:t>
            </a:r>
          </a:p>
          <a:p>
            <a:pPr>
              <a:spcAft>
                <a:spcPts val="200"/>
              </a:spcAft>
              <a:defRPr sz="1100">
                <a:solidFill>
                  <a:srgbClr val="212529"/>
                </a:solidFill>
              </a:defRPr>
            </a:pPr>
            <a:r>
              <a:t>• 2. Fused 47D Space: Feeding both Top 15 Physical Features and 32 Deep Embeddings gives the tree ensemble access to both intuitive physical laws and deep non-linear degradation signals.</a:t>
            </a:r>
          </a:p>
          <a:p>
            <a:pPr>
              <a:spcAft>
                <a:spcPts val="200"/>
              </a:spcAft>
              <a:defRPr sz="1100">
                <a:solidFill>
                  <a:srgbClr val="212529"/>
                </a:solidFill>
              </a:defRPr>
            </a:pPr>
            <a:r>
              <a:t>• 3. Safety-Critical Precision: Delivered the lowest MAE and lowest RMSE, minimizing dangerous outlier predictions in EV fleet maintenance.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9688"/>
                </a:solidFill>
              </a:defRPr>
            </a:pPr>
            <a:r>
              <a:t>EV PREDICTIVE MAINTENANCE &amp; RUL PREDICTION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02542"/>
                </a:solidFill>
              </a:defRPr>
            </a:pPr>
            <a:r>
              <a:t>Explainability, Literature Grounding &amp; Project Conclusions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02542"/>
                </a:solidFill>
              </a:defRPr>
            </a:pPr>
            <a:r>
              <a:t>MODEL EXPLAINABILITY &amp; CITATIONS</a:t>
            </a:r>
          </a:p>
          <a:p>
            <a:pPr>
              <a:spcAft>
                <a:spcPts val="800"/>
              </a:spcAft>
              <a:defRPr sz="1100">
                <a:solidFill>
                  <a:srgbClr val="212529"/>
                </a:solidFill>
              </a:defRPr>
            </a:pPr>
            <a:r>
              <a:t>• Permutation Importance: Confirmed that top predictive weight is shared between physical thermal ratios (Motor_Temp_Delta, Battery_Temp) and deep embeddings (DL_Emb_X).</a:t>
            </a:r>
          </a:p>
          <a:p>
            <a:pPr>
              <a:spcAft>
                <a:spcPts val="800"/>
              </a:spcAft>
              <a:defRPr sz="1100">
                <a:solidFill>
                  <a:srgbClr val="212529"/>
                </a:solidFill>
              </a:defRPr>
            </a:pPr>
            <a:r>
              <a:t>• Elsevier (Energy Conversion &amp; Mgmt: X): Validates the multi-stage hybrid ML+DL architecture for EV telemetry RUL estimation (PII: S2590174526003636).</a:t>
            </a:r>
          </a:p>
          <a:p>
            <a:pPr>
              <a:spcAft>
                <a:spcPts val="800"/>
              </a:spcAft>
              <a:defRPr sz="1100">
                <a:solidFill>
                  <a:srgbClr val="212529"/>
                </a:solidFill>
              </a:defRPr>
            </a:pPr>
            <a:r>
              <a:t>• Oxford Academic (Clean Energy): Confirms battery state-of-health and thermal degradation trajectory modeling (DOI: 10.1093/ce/zkad059).</a:t>
            </a:r>
          </a:p>
          <a:p>
            <a:pPr>
              <a:spcAft>
                <a:spcPts val="800"/>
              </a:spcAft>
              <a:defRPr sz="1100">
                <a:solidFill>
                  <a:srgbClr val="212529"/>
                </a:solidFill>
              </a:defRPr>
            </a:pPr>
            <a:r>
              <a:t>• MDPI (Energies): Establishes IoT predictive maintenance frameworks &amp; deep 1D-CNN temporal features (DOI: 10.3390/en18051041).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02542"/>
                </a:solidFill>
              </a:defRPr>
            </a:pPr>
            <a:r>
              <a:t>FINAL CONCLUSIONS &amp; DEFENSE SUMMARY</a:t>
            </a:r>
          </a:p>
          <a:p>
            <a:pPr>
              <a:spcAft>
                <a:spcPts val="800"/>
              </a:spcAft>
              <a:defRPr sz="1100">
                <a:solidFill>
                  <a:srgbClr val="212529"/>
                </a:solidFill>
              </a:defRPr>
            </a:pPr>
            <a:r>
              <a:t>• Complete End-to-End Pipeline: Successfully executed all 12 pipeline stages in a reproducible Jupyter Notebook with 0 errors.</a:t>
            </a:r>
          </a:p>
          <a:p>
            <a:pPr>
              <a:spcAft>
                <a:spcPts val="800"/>
              </a:spcAft>
              <a:defRPr sz="1100">
                <a:solidFill>
                  <a:srgbClr val="212529"/>
                </a:solidFill>
              </a:defRPr>
            </a:pPr>
            <a:r>
              <a:t>• Zero Data Leakage: Scalers fitted strictly on training data; secondary target flags removed before feature selection.</a:t>
            </a:r>
          </a:p>
          <a:p>
            <a:pPr>
              <a:spcAft>
                <a:spcPts val="800"/>
              </a:spcAft>
              <a:defRPr sz="1100">
                <a:solidFill>
                  <a:srgbClr val="212529"/>
                </a:solidFill>
              </a:defRPr>
            </a:pPr>
            <a:r>
              <a:t>• Industrial Viability: Low inference latency with decision trees operating on pre-extracted embeddings enables onboard or cloud edge deployment for real-time EV fleet health monitoring.</a:t>
            </a:r>
          </a:p>
          <a:p>
            <a:pPr>
              <a:spcAft>
                <a:spcPts val="800"/>
              </a:spcAft>
              <a:defRPr sz="1100">
                <a:solidFill>
                  <a:srgbClr val="212529"/>
                </a:solidFill>
              </a:defRPr>
            </a:pPr>
            <a:r>
              <a:t>• Winning Outcome: Hybrid ML+DL architecture established as the premier modeling paradigm for predictive automotive maintenance.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